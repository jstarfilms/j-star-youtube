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58" d="100"/>
          <a:sy n="158" d="100"/>
        </p:scale>
        <p:origin x="264" y="-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49587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285750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707231" y="106263"/>
            <a:ext cx="1518047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terminal — zsh — 1280x720</a:t>
            </a:r>
            <a:endParaRPr lang="en-US" sz="727" dirty="0"/>
          </a:p>
        </p:txBody>
      </p:sp>
      <p:sp>
        <p:nvSpPr>
          <p:cNvPr id="5" name="Text 2"/>
          <p:cNvSpPr/>
          <p:nvPr/>
        </p:nvSpPr>
        <p:spPr>
          <a:xfrm>
            <a:off x="1000125" y="1580220"/>
            <a:ext cx="7143750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704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$ init --system "vibe-coding-protocol"</a:t>
            </a:r>
            <a:endParaRPr lang="en-US" sz="1704" dirty="0"/>
          </a:p>
        </p:txBody>
      </p:sp>
      <p:sp>
        <p:nvSpPr>
          <p:cNvPr id="6" name="Text 3"/>
          <p:cNvSpPr/>
          <p:nvPr/>
        </p:nvSpPr>
        <p:spPr>
          <a:xfrm>
            <a:off x="1000125" y="2023132"/>
            <a:ext cx="7143750" cy="10972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3294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DON'T Download AI Skills, </a:t>
            </a:r>
            <a:r>
              <a:rPr lang="en-US" sz="3294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BUILD</a:t>
            </a:r>
            <a:r>
              <a:rPr lang="en-US" sz="3294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Them</a:t>
            </a:r>
            <a:endParaRPr lang="en-US" sz="3294" dirty="0"/>
          </a:p>
        </p:txBody>
      </p:sp>
      <p:sp>
        <p:nvSpPr>
          <p:cNvPr id="7" name="Text 4"/>
          <p:cNvSpPr/>
          <p:nvPr/>
        </p:nvSpPr>
        <p:spPr>
          <a:xfrm>
            <a:off x="1044773" y="3334680"/>
            <a:ext cx="6875859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704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The 50+ Custom AI Operating System for Antigravity</a:t>
            </a:r>
            <a:endParaRPr lang="en-US" sz="1704" dirty="0"/>
          </a:p>
        </p:txBody>
      </p:sp>
      <p:sp>
        <p:nvSpPr>
          <p:cNvPr id="8" name="Shape 5"/>
          <p:cNvSpPr/>
          <p:nvPr/>
        </p:nvSpPr>
        <p:spPr>
          <a:xfrm>
            <a:off x="28575" y="4900613"/>
            <a:ext cx="9086850" cy="214313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171450" y="4942582"/>
            <a:ext cx="36433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MASTER</a:t>
            </a:r>
            <a:endParaRPr lang="en-US" sz="683" dirty="0"/>
          </a:p>
        </p:txBody>
      </p:sp>
      <p:sp>
        <p:nvSpPr>
          <p:cNvPr id="10" name="Text 7"/>
          <p:cNvSpPr/>
          <p:nvPr/>
        </p:nvSpPr>
        <p:spPr>
          <a:xfrm>
            <a:off x="678656" y="4942582"/>
            <a:ext cx="30360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UTF-8</a:t>
            </a:r>
            <a:endParaRPr lang="en-US" sz="683" dirty="0"/>
          </a:p>
        </p:txBody>
      </p:sp>
      <p:sp>
        <p:nvSpPr>
          <p:cNvPr id="11" name="Text 8"/>
          <p:cNvSpPr/>
          <p:nvPr/>
        </p:nvSpPr>
        <p:spPr>
          <a:xfrm>
            <a:off x="8365331" y="4942582"/>
            <a:ext cx="60721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PAGE 01/12</a:t>
            </a:r>
            <a:endParaRPr lang="en-US" sz="683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285750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707231" y="106263"/>
            <a:ext cx="1700213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the_hook.sh — zsh — 1280x720</a:t>
            </a:r>
            <a:endParaRPr lang="en-US" sz="727" dirty="0"/>
          </a:p>
        </p:txBody>
      </p:sp>
      <p:sp>
        <p:nvSpPr>
          <p:cNvPr id="5" name="Text 2"/>
          <p:cNvSpPr/>
          <p:nvPr/>
        </p:nvSpPr>
        <p:spPr>
          <a:xfrm>
            <a:off x="457200" y="742950"/>
            <a:ext cx="8229600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$ grep --hook "random_skills"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57200" y="1328738"/>
            <a:ext cx="8229600" cy="1428750"/>
          </a:xfrm>
          <a:prstGeom prst="rect">
            <a:avLst/>
          </a:prstGeom>
          <a:solidFill>
            <a:srgbClr val="252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457200" y="1328738"/>
            <a:ext cx="35719" cy="1428750"/>
          </a:xfrm>
          <a:prstGeom prst="rect">
            <a:avLst/>
          </a:prstGeom>
          <a:solidFill>
            <a:srgbClr val="00FF4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71513" y="1543050"/>
            <a:ext cx="7800975" cy="720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924" dirty="0">
                <a:solidFill>
                  <a:srgbClr val="CE917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"Everyone is downloading random AI skills and hoping they work."</a:t>
            </a:r>
            <a:endParaRPr lang="en-US" sz="1924" dirty="0"/>
          </a:p>
        </p:txBody>
      </p:sp>
      <p:sp>
        <p:nvSpPr>
          <p:cNvPr id="9" name="Text 6"/>
          <p:cNvSpPr/>
          <p:nvPr/>
        </p:nvSpPr>
        <p:spPr>
          <a:xfrm>
            <a:off x="457200" y="3043238"/>
            <a:ext cx="142875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➜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707231" y="3043238"/>
            <a:ext cx="7250906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Pasting GitHub markdown files into Antigravity leads to </a:t>
            </a:r>
            <a:r>
              <a:rPr lang="en-US" sz="1269" dirty="0">
                <a:solidFill>
                  <a:srgbClr val="FF5F5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"mid" results</a:t>
            </a: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.</a:t>
            </a:r>
            <a:endParaRPr lang="en-US" sz="1269" dirty="0"/>
          </a:p>
        </p:txBody>
      </p:sp>
      <p:sp>
        <p:nvSpPr>
          <p:cNvPr id="11" name="Text 8"/>
          <p:cNvSpPr/>
          <p:nvPr/>
        </p:nvSpPr>
        <p:spPr>
          <a:xfrm>
            <a:off x="457200" y="3411141"/>
            <a:ext cx="142875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➜</a:t>
            </a:r>
            <a:endParaRPr lang="en-US" sz="1193" dirty="0"/>
          </a:p>
        </p:txBody>
      </p:sp>
      <p:sp>
        <p:nvSpPr>
          <p:cNvPr id="12" name="Text 9"/>
          <p:cNvSpPr/>
          <p:nvPr/>
        </p:nvSpPr>
        <p:spPr>
          <a:xfrm>
            <a:off x="707231" y="3411141"/>
            <a:ext cx="5179219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It's not a skills problem; it's a </a:t>
            </a:r>
            <a:r>
              <a:rPr lang="en-US" sz="1269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systems problem</a:t>
            </a: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.</a:t>
            </a:r>
            <a:endParaRPr lang="en-US" sz="1269" dirty="0"/>
          </a:p>
        </p:txBody>
      </p:sp>
      <p:sp>
        <p:nvSpPr>
          <p:cNvPr id="13" name="Shape 10"/>
          <p:cNvSpPr/>
          <p:nvPr/>
        </p:nvSpPr>
        <p:spPr>
          <a:xfrm>
            <a:off x="28575" y="4900613"/>
            <a:ext cx="9086850" cy="214313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171450" y="4942582"/>
            <a:ext cx="36433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MASTER</a:t>
            </a:r>
            <a:endParaRPr lang="en-US" sz="683" dirty="0"/>
          </a:p>
        </p:txBody>
      </p:sp>
      <p:sp>
        <p:nvSpPr>
          <p:cNvPr id="15" name="Text 12"/>
          <p:cNvSpPr/>
          <p:nvPr/>
        </p:nvSpPr>
        <p:spPr>
          <a:xfrm>
            <a:off x="678656" y="4942582"/>
            <a:ext cx="30360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UTF-8</a:t>
            </a:r>
            <a:endParaRPr lang="en-US" sz="683" dirty="0"/>
          </a:p>
        </p:txBody>
      </p:sp>
      <p:sp>
        <p:nvSpPr>
          <p:cNvPr id="16" name="Text 13"/>
          <p:cNvSpPr/>
          <p:nvPr/>
        </p:nvSpPr>
        <p:spPr>
          <a:xfrm>
            <a:off x="8365331" y="4942582"/>
            <a:ext cx="60721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PAGE 02/12</a:t>
            </a:r>
            <a:endParaRPr lang="en-US" sz="683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285750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707231" y="106263"/>
            <a:ext cx="2003822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reality_check.py — zsh — 1280x720</a:t>
            </a:r>
            <a:endParaRPr lang="en-US" sz="727" dirty="0"/>
          </a:p>
        </p:txBody>
      </p:sp>
      <p:sp>
        <p:nvSpPr>
          <p:cNvPr id="5" name="Text 2"/>
          <p:cNvSpPr/>
          <p:nvPr/>
        </p:nvSpPr>
        <p:spPr>
          <a:xfrm>
            <a:off x="457200" y="742950"/>
            <a:ext cx="8229600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$ diagnose --target "default_antigravity"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57200" y="1328738"/>
            <a:ext cx="3971925" cy="2500313"/>
          </a:xfrm>
          <a:prstGeom prst="rect">
            <a:avLst/>
          </a:prstGeom>
          <a:solidFill>
            <a:srgbClr val="252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671513" y="1543050"/>
            <a:ext cx="3543300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5F5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ERROR: Workspace_Empty</a:t>
            </a:r>
            <a:endParaRPr lang="en-US" sz="1193" dirty="0"/>
          </a:p>
        </p:txBody>
      </p:sp>
      <p:sp>
        <p:nvSpPr>
          <p:cNvPr id="8" name="Text 5"/>
          <p:cNvSpPr/>
          <p:nvPr/>
        </p:nvSpPr>
        <p:spPr>
          <a:xfrm>
            <a:off x="671513" y="1910953"/>
            <a:ext cx="35433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✖ No Context Files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71513" y="2218134"/>
            <a:ext cx="35433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✖ No Coding Standards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71513" y="2525316"/>
            <a:ext cx="35433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✖ No Design System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71513" y="2832497"/>
            <a:ext cx="35433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✖ No Security Checks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14875" y="1328738"/>
            <a:ext cx="3971925" cy="2500313"/>
          </a:xfrm>
          <a:prstGeom prst="rect">
            <a:avLst/>
          </a:prstGeom>
          <a:solidFill>
            <a:srgbClr val="252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4929188" y="1543050"/>
            <a:ext cx="3543300" cy="225028"/>
          </a:xfrm>
          <a:prstGeom prst="rect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4929188" y="1543050"/>
            <a:ext cx="3543300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RESULT: "Mid" Output</a:t>
            </a:r>
            <a:endParaRPr lang="en-US" sz="1193" dirty="0"/>
          </a:p>
        </p:txBody>
      </p:sp>
      <p:sp>
        <p:nvSpPr>
          <p:cNvPr id="15" name="Text 12"/>
          <p:cNvSpPr/>
          <p:nvPr/>
        </p:nvSpPr>
        <p:spPr>
          <a:xfrm>
            <a:off x="4929188" y="1910953"/>
            <a:ext cx="35433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✖ Unstyled &amp; Basic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929188" y="2218134"/>
            <a:ext cx="35433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✖ No Animations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929188" y="2525316"/>
            <a:ext cx="35433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✖ Bland SEO/Marketing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929188" y="2832497"/>
            <a:ext cx="35433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✖ Fragile Production Code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" y="4114800"/>
            <a:ext cx="8229600" cy="667941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457200" y="4114800"/>
            <a:ext cx="35719" cy="667941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671513" y="4257675"/>
            <a:ext cx="7800975" cy="2625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86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"The AI can do everything you want—you just haven't told it </a:t>
            </a:r>
            <a:r>
              <a:rPr lang="en-US" sz="1486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HOW</a:t>
            </a:r>
            <a:r>
              <a:rPr lang="en-US" sz="1486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."</a:t>
            </a:r>
            <a:endParaRPr lang="en-US" sz="1486" dirty="0"/>
          </a:p>
        </p:txBody>
      </p:sp>
      <p:sp>
        <p:nvSpPr>
          <p:cNvPr id="22" name="Shape 19"/>
          <p:cNvSpPr/>
          <p:nvPr/>
        </p:nvSpPr>
        <p:spPr>
          <a:xfrm>
            <a:off x="28575" y="4900613"/>
            <a:ext cx="9086850" cy="214313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171450" y="4942582"/>
            <a:ext cx="36433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MASTER</a:t>
            </a:r>
            <a:endParaRPr lang="en-US" sz="683" dirty="0"/>
          </a:p>
        </p:txBody>
      </p:sp>
      <p:sp>
        <p:nvSpPr>
          <p:cNvPr id="24" name="Text 21"/>
          <p:cNvSpPr/>
          <p:nvPr/>
        </p:nvSpPr>
        <p:spPr>
          <a:xfrm>
            <a:off x="678656" y="4942582"/>
            <a:ext cx="30360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UTF-8</a:t>
            </a:r>
            <a:endParaRPr lang="en-US" sz="683" dirty="0"/>
          </a:p>
        </p:txBody>
      </p:sp>
      <p:sp>
        <p:nvSpPr>
          <p:cNvPr id="25" name="Text 22"/>
          <p:cNvSpPr/>
          <p:nvPr/>
        </p:nvSpPr>
        <p:spPr>
          <a:xfrm>
            <a:off x="8365331" y="4942582"/>
            <a:ext cx="60721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PAGE 03/12</a:t>
            </a:r>
            <a:endParaRPr lang="en-US" sz="683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285750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707231" y="106263"/>
            <a:ext cx="2064544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vibe_suite_v1.0.0 — zsh — 1280x720</a:t>
            </a:r>
            <a:endParaRPr lang="en-US" sz="727" dirty="0"/>
          </a:p>
        </p:txBody>
      </p:sp>
      <p:sp>
        <p:nvSpPr>
          <p:cNvPr id="5" name="Text 2"/>
          <p:cNvSpPr/>
          <p:nvPr/>
        </p:nvSpPr>
        <p:spPr>
          <a:xfrm>
            <a:off x="457200" y="742950"/>
            <a:ext cx="8229600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$ systemctl status "vibecoding-protocol-suite"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57200" y="1328738"/>
            <a:ext cx="2857500" cy="2500313"/>
          </a:xfrm>
          <a:prstGeom prst="rect">
            <a:avLst/>
          </a:prstGeom>
          <a:solidFill>
            <a:srgbClr val="252526"/>
          </a:solidFill>
          <a:ln w="9144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671513" y="1543050"/>
            <a:ext cx="2428875" cy="5982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294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64</a:t>
            </a:r>
            <a:endParaRPr lang="en-US" sz="3294" dirty="0"/>
          </a:p>
        </p:txBody>
      </p:sp>
      <p:sp>
        <p:nvSpPr>
          <p:cNvPr id="8" name="Text 5"/>
          <p:cNvSpPr/>
          <p:nvPr/>
        </p:nvSpPr>
        <p:spPr>
          <a:xfrm>
            <a:off x="671513" y="2141339"/>
            <a:ext cx="1346597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Custom Skills</a:t>
            </a:r>
            <a:endParaRPr lang="en-US" sz="1269" dirty="0"/>
          </a:p>
        </p:txBody>
      </p:sp>
      <p:sp>
        <p:nvSpPr>
          <p:cNvPr id="9" name="Text 6"/>
          <p:cNvSpPr/>
          <p:nvPr/>
        </p:nvSpPr>
        <p:spPr>
          <a:xfrm>
            <a:off x="671513" y="2580680"/>
            <a:ext cx="2428875" cy="5982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294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26</a:t>
            </a:r>
            <a:endParaRPr lang="en-US" sz="3294" dirty="0"/>
          </a:p>
        </p:txBody>
      </p:sp>
      <p:sp>
        <p:nvSpPr>
          <p:cNvPr id="10" name="Text 7"/>
          <p:cNvSpPr/>
          <p:nvPr/>
        </p:nvSpPr>
        <p:spPr>
          <a:xfrm>
            <a:off x="671513" y="3178969"/>
            <a:ext cx="932259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Workflows</a:t>
            </a:r>
            <a:endParaRPr lang="en-US" sz="1269" dirty="0"/>
          </a:p>
        </p:txBody>
      </p:sp>
      <p:sp>
        <p:nvSpPr>
          <p:cNvPr id="11" name="Shape 8"/>
          <p:cNvSpPr/>
          <p:nvPr/>
        </p:nvSpPr>
        <p:spPr>
          <a:xfrm>
            <a:off x="3600450" y="1400175"/>
            <a:ext cx="521494" cy="239316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 dirty="0"/>
          </a:p>
        </p:txBody>
      </p:sp>
      <p:sp>
        <p:nvSpPr>
          <p:cNvPr id="12" name="Text 9"/>
          <p:cNvSpPr/>
          <p:nvPr/>
        </p:nvSpPr>
        <p:spPr>
          <a:xfrm>
            <a:off x="3600450" y="1400175"/>
            <a:ext cx="577934" cy="233910"/>
          </a:xfrm>
          <a:prstGeom prst="rect">
            <a:avLst/>
          </a:prstGeom>
          <a:noFill/>
          <a:ln/>
        </p:spPr>
        <p:txBody>
          <a:bodyPr wrap="square" lIns="127508" tIns="42545" rIns="127508" bIns="42545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AUTO</a:t>
            </a:r>
            <a:endParaRPr lang="en-US" sz="885" dirty="0"/>
          </a:p>
        </p:txBody>
      </p:sp>
      <p:sp>
        <p:nvSpPr>
          <p:cNvPr id="13" name="Text 10"/>
          <p:cNvSpPr/>
          <p:nvPr/>
        </p:nvSpPr>
        <p:spPr>
          <a:xfrm>
            <a:off x="4264819" y="1407319"/>
            <a:ext cx="3832622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Skills activate based on task context</a:t>
            </a:r>
            <a:endParaRPr lang="en-US" sz="1269" dirty="0"/>
          </a:p>
        </p:txBody>
      </p:sp>
      <p:sp>
        <p:nvSpPr>
          <p:cNvPr id="14" name="Shape 11"/>
          <p:cNvSpPr/>
          <p:nvPr/>
        </p:nvSpPr>
        <p:spPr>
          <a:xfrm>
            <a:off x="3600450" y="1818084"/>
            <a:ext cx="521494" cy="239316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/>
          <p:nvPr/>
        </p:nvSpPr>
        <p:spPr>
          <a:xfrm>
            <a:off x="3600450" y="1818084"/>
            <a:ext cx="577934" cy="233910"/>
          </a:xfrm>
          <a:prstGeom prst="rect">
            <a:avLst/>
          </a:prstGeom>
          <a:noFill/>
          <a:ln/>
        </p:spPr>
        <p:txBody>
          <a:bodyPr wrap="square" lIns="127508" tIns="42545" rIns="127508" bIns="42545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CORE</a:t>
            </a:r>
            <a:endParaRPr lang="en-US" sz="885" dirty="0"/>
          </a:p>
        </p:txBody>
      </p:sp>
      <p:sp>
        <p:nvSpPr>
          <p:cNvPr id="16" name="Text 13"/>
          <p:cNvSpPr/>
          <p:nvPr/>
        </p:nvSpPr>
        <p:spPr>
          <a:xfrm>
            <a:off x="4264819" y="1825228"/>
            <a:ext cx="3729038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Security, Design, SEO, &amp; Code Review</a:t>
            </a:r>
            <a:endParaRPr lang="en-US" sz="1269" dirty="0"/>
          </a:p>
        </p:txBody>
      </p:sp>
      <p:sp>
        <p:nvSpPr>
          <p:cNvPr id="17" name="Shape 14"/>
          <p:cNvSpPr/>
          <p:nvPr/>
        </p:nvSpPr>
        <p:spPr>
          <a:xfrm>
            <a:off x="3600450" y="2235994"/>
            <a:ext cx="521494" cy="239316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3600450" y="2235994"/>
            <a:ext cx="577934" cy="239316"/>
          </a:xfrm>
          <a:prstGeom prst="rect">
            <a:avLst/>
          </a:prstGeom>
          <a:noFill/>
          <a:ln/>
        </p:spPr>
        <p:txBody>
          <a:bodyPr wrap="square" lIns="127508" tIns="42545" rIns="127508" bIns="42545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INFO</a:t>
            </a:r>
            <a:endParaRPr lang="en-US" sz="885" dirty="0"/>
          </a:p>
        </p:txBody>
      </p:sp>
      <p:sp>
        <p:nvSpPr>
          <p:cNvPr id="19" name="Text 16"/>
          <p:cNvSpPr/>
          <p:nvPr/>
        </p:nvSpPr>
        <p:spPr>
          <a:xfrm>
            <a:off x="4264819" y="2243138"/>
            <a:ext cx="3418284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Don't download one skill and pray</a:t>
            </a:r>
            <a:endParaRPr lang="en-US" sz="1269" dirty="0"/>
          </a:p>
        </p:txBody>
      </p:sp>
      <p:sp>
        <p:nvSpPr>
          <p:cNvPr id="20" name="Shape 17"/>
          <p:cNvSpPr/>
          <p:nvPr/>
        </p:nvSpPr>
        <p:spPr>
          <a:xfrm>
            <a:off x="3600450" y="2653903"/>
            <a:ext cx="521494" cy="239316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3600450" y="2653903"/>
            <a:ext cx="577934" cy="239316"/>
          </a:xfrm>
          <a:prstGeom prst="rect">
            <a:avLst/>
          </a:prstGeom>
          <a:noFill/>
          <a:ln/>
        </p:spPr>
        <p:txBody>
          <a:bodyPr wrap="square" lIns="127508" tIns="42545" rIns="127508" bIns="42545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GOAL</a:t>
            </a:r>
            <a:endParaRPr lang="en-US" sz="885" dirty="0"/>
          </a:p>
        </p:txBody>
      </p:sp>
      <p:sp>
        <p:nvSpPr>
          <p:cNvPr id="22" name="Text 19"/>
          <p:cNvSpPr/>
          <p:nvPr/>
        </p:nvSpPr>
        <p:spPr>
          <a:xfrm>
            <a:off x="4264819" y="2661047"/>
            <a:ext cx="2900363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Install a </a:t>
            </a:r>
            <a:r>
              <a:rPr lang="en-US" sz="1269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complete ecosystem</a:t>
            </a:r>
            <a:endParaRPr lang="en-US" sz="1269" dirty="0"/>
          </a:p>
        </p:txBody>
      </p:sp>
      <p:sp>
        <p:nvSpPr>
          <p:cNvPr id="23" name="Shape 20"/>
          <p:cNvSpPr/>
          <p:nvPr/>
        </p:nvSpPr>
        <p:spPr>
          <a:xfrm>
            <a:off x="28575" y="4900613"/>
            <a:ext cx="9086850" cy="214313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1"/>
          <p:cNvSpPr/>
          <p:nvPr/>
        </p:nvSpPr>
        <p:spPr>
          <a:xfrm>
            <a:off x="171450" y="4942582"/>
            <a:ext cx="789384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SYSTEM_ACTIVE</a:t>
            </a:r>
            <a:endParaRPr lang="en-US" sz="683" dirty="0"/>
          </a:p>
        </p:txBody>
      </p:sp>
      <p:sp>
        <p:nvSpPr>
          <p:cNvPr id="25" name="Text 22"/>
          <p:cNvSpPr/>
          <p:nvPr/>
        </p:nvSpPr>
        <p:spPr>
          <a:xfrm>
            <a:off x="1103709" y="4942582"/>
            <a:ext cx="30360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UTF-8</a:t>
            </a:r>
            <a:endParaRPr lang="en-US" sz="683" dirty="0"/>
          </a:p>
        </p:txBody>
      </p:sp>
      <p:sp>
        <p:nvSpPr>
          <p:cNvPr id="26" name="Text 23"/>
          <p:cNvSpPr/>
          <p:nvPr/>
        </p:nvSpPr>
        <p:spPr>
          <a:xfrm>
            <a:off x="8365331" y="4942582"/>
            <a:ext cx="60721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PAGE 04/12</a:t>
            </a:r>
            <a:endParaRPr lang="en-US" sz="683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285750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707231" y="106263"/>
            <a:ext cx="224670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loop_1_foundation.sh — zsh — 1280x720</a:t>
            </a:r>
            <a:endParaRPr lang="en-US" sz="727" dirty="0"/>
          </a:p>
        </p:txBody>
      </p:sp>
      <p:sp>
        <p:nvSpPr>
          <p:cNvPr id="5" name="Text 2"/>
          <p:cNvSpPr/>
          <p:nvPr/>
        </p:nvSpPr>
        <p:spPr>
          <a:xfrm>
            <a:off x="457200" y="742950"/>
            <a:ext cx="374332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$ invoke --workflow "genesis"</a:t>
            </a:r>
            <a:endParaRPr lang="en-US" sz="1602" dirty="0"/>
          </a:p>
        </p:txBody>
      </p:sp>
      <p:sp>
        <p:nvSpPr>
          <p:cNvPr id="6" name="Text 3"/>
          <p:cNvSpPr/>
          <p:nvPr/>
        </p:nvSpPr>
        <p:spPr>
          <a:xfrm>
            <a:off x="457200" y="1557338"/>
            <a:ext cx="3743325" cy="2625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86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/vibe-genesis --init</a:t>
            </a:r>
            <a:endParaRPr lang="en-US" sz="1486" dirty="0"/>
          </a:p>
        </p:txBody>
      </p:sp>
      <p:sp>
        <p:nvSpPr>
          <p:cNvPr id="7" name="Text 4"/>
          <p:cNvSpPr/>
          <p:nvPr/>
        </p:nvSpPr>
        <p:spPr>
          <a:xfrm>
            <a:off x="457200" y="2105620"/>
            <a:ext cx="189309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01</a:t>
            </a:r>
            <a:endParaRPr lang="en-US" sz="1090" dirty="0"/>
          </a:p>
        </p:txBody>
      </p:sp>
      <p:sp>
        <p:nvSpPr>
          <p:cNvPr id="8" name="Text 5"/>
          <p:cNvSpPr/>
          <p:nvPr/>
        </p:nvSpPr>
        <p:spPr>
          <a:xfrm>
            <a:off x="753666" y="2105620"/>
            <a:ext cx="2650331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Analyze Project Requirements</a:t>
            </a:r>
            <a:endParaRPr lang="en-US" sz="1159" dirty="0"/>
          </a:p>
        </p:txBody>
      </p:sp>
      <p:sp>
        <p:nvSpPr>
          <p:cNvPr id="9" name="Text 6"/>
          <p:cNvSpPr/>
          <p:nvPr/>
        </p:nvSpPr>
        <p:spPr>
          <a:xfrm>
            <a:off x="457200" y="2489597"/>
            <a:ext cx="189309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02</a:t>
            </a:r>
            <a:endParaRPr lang="en-US" sz="1090" dirty="0"/>
          </a:p>
        </p:txBody>
      </p:sp>
      <p:sp>
        <p:nvSpPr>
          <p:cNvPr id="10" name="Text 7"/>
          <p:cNvSpPr/>
          <p:nvPr/>
        </p:nvSpPr>
        <p:spPr>
          <a:xfrm>
            <a:off x="753666" y="2489597"/>
            <a:ext cx="2650331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Generate PRD &amp; GitHub Issues</a:t>
            </a:r>
            <a:endParaRPr lang="en-US" sz="1159" dirty="0"/>
          </a:p>
        </p:txBody>
      </p:sp>
      <p:sp>
        <p:nvSpPr>
          <p:cNvPr id="11" name="Text 8"/>
          <p:cNvSpPr/>
          <p:nvPr/>
        </p:nvSpPr>
        <p:spPr>
          <a:xfrm>
            <a:off x="457200" y="2873573"/>
            <a:ext cx="189309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03</a:t>
            </a:r>
            <a:endParaRPr lang="en-US" sz="1090" dirty="0"/>
          </a:p>
        </p:txBody>
      </p:sp>
      <p:sp>
        <p:nvSpPr>
          <p:cNvPr id="12" name="Text 9"/>
          <p:cNvSpPr/>
          <p:nvPr/>
        </p:nvSpPr>
        <p:spPr>
          <a:xfrm>
            <a:off x="753666" y="2873573"/>
            <a:ext cx="2366367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Scaffold Folder Structure</a:t>
            </a:r>
            <a:endParaRPr lang="en-US" sz="1159" dirty="0"/>
          </a:p>
        </p:txBody>
      </p:sp>
      <p:sp>
        <p:nvSpPr>
          <p:cNvPr id="13" name="Text 10"/>
          <p:cNvSpPr/>
          <p:nvPr/>
        </p:nvSpPr>
        <p:spPr>
          <a:xfrm>
            <a:off x="457200" y="3257550"/>
            <a:ext cx="189309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04</a:t>
            </a:r>
            <a:endParaRPr lang="en-US" sz="1090" dirty="0"/>
          </a:p>
        </p:txBody>
      </p:sp>
      <p:sp>
        <p:nvSpPr>
          <p:cNvPr id="14" name="Text 11"/>
          <p:cNvSpPr/>
          <p:nvPr/>
        </p:nvSpPr>
        <p:spPr>
          <a:xfrm>
            <a:off x="753666" y="3257550"/>
            <a:ext cx="2271713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Inject Coding Guidelines</a:t>
            </a:r>
            <a:endParaRPr lang="en-US" sz="1159" dirty="0"/>
          </a:p>
        </p:txBody>
      </p:sp>
      <p:sp>
        <p:nvSpPr>
          <p:cNvPr id="15" name="Text 12"/>
          <p:cNvSpPr/>
          <p:nvPr/>
        </p:nvSpPr>
        <p:spPr>
          <a:xfrm>
            <a:off x="457200" y="3748683"/>
            <a:ext cx="3743325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[COMPLETED IN 30 SECONDS]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486275" y="742950"/>
            <a:ext cx="4200525" cy="4157663"/>
          </a:xfrm>
          <a:prstGeom prst="rect">
            <a:avLst/>
          </a:prstGeom>
          <a:solidFill>
            <a:srgbClr val="252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486275" y="742950"/>
            <a:ext cx="28575" cy="4157663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4714875" y="957263"/>
            <a:ext cx="3757613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CE917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GENERATED ASSETS:</a:t>
            </a:r>
            <a:endParaRPr lang="en-US" sz="1193" dirty="0"/>
          </a:p>
        </p:txBody>
      </p:sp>
      <p:sp>
        <p:nvSpPr>
          <p:cNvPr id="19" name="Text 16"/>
          <p:cNvSpPr/>
          <p:nvPr/>
        </p:nvSpPr>
        <p:spPr>
          <a:xfrm>
            <a:off x="4714875" y="1325166"/>
            <a:ext cx="3757613" cy="20571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.agent/
 ├── 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PRD.md</a:t>
            </a:r>
            <a:r>
              <a:rPr lang="en-US" sz="942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(Full Blueprint)
 ├── 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ISSUES.json</a:t>
            </a:r>
            <a:r>
              <a:rPr lang="en-US" sz="942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(26 Tasks)
 ├── 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STANDARDS.md</a:t>
            </a:r>
            <a:r>
              <a:rPr lang="en-US" sz="942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(Strict TS)
 └── 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STRUCTURE.yaml</a:t>
            </a:r>
            <a:r>
              <a:rPr lang="en-US" sz="942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(App Router)
 src/
 ├── app/
 ├── components/
 └── lib/</a:t>
            </a:r>
            <a:endParaRPr lang="en-US" sz="942" dirty="0"/>
          </a:p>
        </p:txBody>
      </p:sp>
      <p:sp>
        <p:nvSpPr>
          <p:cNvPr id="20" name="Text 17"/>
          <p:cNvSpPr/>
          <p:nvPr/>
        </p:nvSpPr>
        <p:spPr>
          <a:xfrm>
            <a:off x="4714875" y="3668092"/>
            <a:ext cx="375761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"Stop typing prompts; start invoking </a:t>
            </a:r>
            <a:r>
              <a:rPr lang="en-US" sz="1050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workflows</a:t>
            </a:r>
            <a:r>
              <a:rPr lang="en-US" sz="1050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for professional scaffolds."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28575" y="4900613"/>
            <a:ext cx="9086850" cy="214313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171450" y="4942582"/>
            <a:ext cx="36433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MASTER</a:t>
            </a:r>
            <a:endParaRPr lang="en-US" sz="683" dirty="0"/>
          </a:p>
        </p:txBody>
      </p:sp>
      <p:sp>
        <p:nvSpPr>
          <p:cNvPr id="23" name="Text 20"/>
          <p:cNvSpPr/>
          <p:nvPr/>
        </p:nvSpPr>
        <p:spPr>
          <a:xfrm>
            <a:off x="678656" y="4942582"/>
            <a:ext cx="30360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UTF-8</a:t>
            </a:r>
            <a:endParaRPr lang="en-US" sz="683" dirty="0"/>
          </a:p>
        </p:txBody>
      </p:sp>
      <p:sp>
        <p:nvSpPr>
          <p:cNvPr id="24" name="Text 21"/>
          <p:cNvSpPr/>
          <p:nvPr/>
        </p:nvSpPr>
        <p:spPr>
          <a:xfrm>
            <a:off x="8365331" y="4942582"/>
            <a:ext cx="60721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PAGE 05/12</a:t>
            </a:r>
            <a:endParaRPr lang="en-US" sz="683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285750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707231" y="106263"/>
            <a:ext cx="2125266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design_engine.json — zsh — 1280x720</a:t>
            </a:r>
            <a:endParaRPr lang="en-US" sz="727" dirty="0"/>
          </a:p>
        </p:txBody>
      </p:sp>
      <p:sp>
        <p:nvSpPr>
          <p:cNvPr id="5" name="Text 2"/>
          <p:cNvSpPr/>
          <p:nvPr/>
        </p:nvSpPr>
        <p:spPr>
          <a:xfrm>
            <a:off x="457200" y="742950"/>
            <a:ext cx="8229600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$ invoke --workflow "design-engine"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57200" y="1328738"/>
            <a:ext cx="3610831" cy="2857500"/>
          </a:xfrm>
          <a:prstGeom prst="rect">
            <a:avLst/>
          </a:prstGeom>
          <a:solidFill>
            <a:srgbClr val="252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457200" y="1328738"/>
            <a:ext cx="3610831" cy="14288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71513" y="1543050"/>
            <a:ext cx="3182206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// DESIGN_SYSTEM_CONFIG</a:t>
            </a:r>
            <a:endParaRPr lang="en-US" sz="942" dirty="0"/>
          </a:p>
        </p:txBody>
      </p:sp>
      <p:sp>
        <p:nvSpPr>
          <p:cNvPr id="9" name="Text 6"/>
          <p:cNvSpPr/>
          <p:nvPr/>
        </p:nvSpPr>
        <p:spPr>
          <a:xfrm>
            <a:off x="671513" y="1782366"/>
            <a:ext cx="3182206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Styles: </a:t>
            </a:r>
            <a:r>
              <a:rPr lang="en-US" sz="1090" b="1" dirty="0">
                <a:solidFill>
                  <a:srgbClr val="CE917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50+ Curated</a:t>
            </a:r>
            <a:endParaRPr lang="en-US" sz="1159" dirty="0"/>
          </a:p>
        </p:txBody>
      </p:sp>
      <p:sp>
        <p:nvSpPr>
          <p:cNvPr id="10" name="Text 7"/>
          <p:cNvSpPr/>
          <p:nvPr/>
        </p:nvSpPr>
        <p:spPr>
          <a:xfrm>
            <a:off x="671513" y="2130623"/>
            <a:ext cx="3182206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Palettes: </a:t>
            </a:r>
            <a:r>
              <a:rPr lang="en-US" sz="1090" b="1" dirty="0">
                <a:solidFill>
                  <a:srgbClr val="CE917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97 Premium</a:t>
            </a:r>
            <a:endParaRPr lang="en-US" sz="1159" dirty="0"/>
          </a:p>
        </p:txBody>
      </p:sp>
      <p:sp>
        <p:nvSpPr>
          <p:cNvPr id="11" name="Text 8"/>
          <p:cNvSpPr/>
          <p:nvPr/>
        </p:nvSpPr>
        <p:spPr>
          <a:xfrm>
            <a:off x="671513" y="2478881"/>
            <a:ext cx="3182206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Pairings: </a:t>
            </a:r>
            <a:r>
              <a:rPr lang="en-US" sz="1090" b="1" dirty="0">
                <a:solidFill>
                  <a:srgbClr val="CE917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57 Typography</a:t>
            </a:r>
            <a:endParaRPr lang="en-US" sz="1159" dirty="0"/>
          </a:p>
        </p:txBody>
      </p:sp>
      <p:sp>
        <p:nvSpPr>
          <p:cNvPr id="12" name="Text 9"/>
          <p:cNvSpPr/>
          <p:nvPr/>
        </p:nvSpPr>
        <p:spPr>
          <a:xfrm>
            <a:off x="671513" y="2827139"/>
            <a:ext cx="3182206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Mode: </a:t>
            </a:r>
            <a:r>
              <a:rPr lang="en-US" sz="1090" b="1" dirty="0">
                <a:solidFill>
                  <a:srgbClr val="CE917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"Vibe-Pro-Max"</a:t>
            </a:r>
            <a:endParaRPr lang="en-US" sz="1159" dirty="0"/>
          </a:p>
        </p:txBody>
      </p:sp>
      <p:sp>
        <p:nvSpPr>
          <p:cNvPr id="13" name="Shape 10"/>
          <p:cNvSpPr/>
          <p:nvPr/>
        </p:nvSpPr>
        <p:spPr>
          <a:xfrm>
            <a:off x="4353781" y="1328738"/>
            <a:ext cx="4333019" cy="2857500"/>
          </a:xfrm>
          <a:prstGeom prst="rect">
            <a:avLst/>
          </a:prstGeom>
          <a:solidFill>
            <a:srgbClr val="1A1A1A"/>
          </a:solidFill>
          <a:ln w="9144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4568093" y="1543050"/>
            <a:ext cx="3904394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// EXECUTION_LOG</a:t>
            </a:r>
            <a:endParaRPr lang="en-US" sz="942" dirty="0"/>
          </a:p>
        </p:txBody>
      </p:sp>
      <p:sp>
        <p:nvSpPr>
          <p:cNvPr id="15" name="Text 12"/>
          <p:cNvSpPr/>
          <p:nvPr/>
        </p:nvSpPr>
        <p:spPr>
          <a:xfrm>
            <a:off x="4568093" y="1782366"/>
            <a:ext cx="3904394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[STITCH]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Generating UI components...</a:t>
            </a:r>
            <a:endParaRPr lang="en-US" sz="942" dirty="0"/>
          </a:p>
        </p:txBody>
      </p:sp>
      <p:sp>
        <p:nvSpPr>
          <p:cNvPr id="16" name="Text 13"/>
          <p:cNvSpPr/>
          <p:nvPr/>
        </p:nvSpPr>
        <p:spPr>
          <a:xfrm>
            <a:off x="4568093" y="2048108"/>
            <a:ext cx="3904394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[REACT]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Converting to TypeScript components...</a:t>
            </a:r>
            <a:endParaRPr lang="en-US" sz="942" dirty="0"/>
          </a:p>
        </p:txBody>
      </p:sp>
      <p:sp>
        <p:nvSpPr>
          <p:cNvPr id="17" name="Text 14"/>
          <p:cNvSpPr/>
          <p:nvPr/>
        </p:nvSpPr>
        <p:spPr>
          <a:xfrm>
            <a:off x="4568093" y="2313849"/>
            <a:ext cx="3904394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[AUTO]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Refining color contrast ratios...</a:t>
            </a:r>
            <a:endParaRPr lang="en-US" sz="942" dirty="0"/>
          </a:p>
        </p:txBody>
      </p:sp>
      <p:sp>
        <p:nvSpPr>
          <p:cNvPr id="18" name="Text 15"/>
          <p:cNvSpPr/>
          <p:nvPr/>
        </p:nvSpPr>
        <p:spPr>
          <a:xfrm>
            <a:off x="4568093" y="2579591"/>
            <a:ext cx="3904394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[AUTO]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Injecting micro-animations (Framer Motion)...</a:t>
            </a:r>
            <a:endParaRPr lang="en-US" sz="942" dirty="0"/>
          </a:p>
        </p:txBody>
      </p:sp>
      <p:sp>
        <p:nvSpPr>
          <p:cNvPr id="19" name="Text 16"/>
          <p:cNvSpPr/>
          <p:nvPr/>
        </p:nvSpPr>
        <p:spPr>
          <a:xfrm>
            <a:off x="4568093" y="3025350"/>
            <a:ext cx="3904394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[AUTO]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Optimizing typography hierarchy...</a:t>
            </a:r>
            <a:endParaRPr lang="en-US" sz="942" dirty="0"/>
          </a:p>
        </p:txBody>
      </p:sp>
      <p:sp>
        <p:nvSpPr>
          <p:cNvPr id="20" name="Text 17"/>
          <p:cNvSpPr/>
          <p:nvPr/>
        </p:nvSpPr>
        <p:spPr>
          <a:xfrm>
            <a:off x="4568093" y="3348242"/>
            <a:ext cx="3904394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✔ DESIGN ENGINE SYNC COMPLETE</a:t>
            </a:r>
            <a:endParaRPr lang="en-US" sz="942" dirty="0"/>
          </a:p>
        </p:txBody>
      </p:sp>
      <p:sp>
        <p:nvSpPr>
          <p:cNvPr id="21" name="Shape 18"/>
          <p:cNvSpPr/>
          <p:nvPr/>
        </p:nvSpPr>
        <p:spPr>
          <a:xfrm>
            <a:off x="28575" y="4900613"/>
            <a:ext cx="9086850" cy="214313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171450" y="4942582"/>
            <a:ext cx="36433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MASTER</a:t>
            </a:r>
            <a:endParaRPr lang="en-US" sz="683" dirty="0"/>
          </a:p>
        </p:txBody>
      </p:sp>
      <p:sp>
        <p:nvSpPr>
          <p:cNvPr id="23" name="Text 20"/>
          <p:cNvSpPr/>
          <p:nvPr/>
        </p:nvSpPr>
        <p:spPr>
          <a:xfrm>
            <a:off x="678656" y="4942582"/>
            <a:ext cx="30360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UTF-8</a:t>
            </a:r>
            <a:endParaRPr lang="en-US" sz="683" dirty="0"/>
          </a:p>
        </p:txBody>
      </p:sp>
      <p:sp>
        <p:nvSpPr>
          <p:cNvPr id="24" name="Text 21"/>
          <p:cNvSpPr/>
          <p:nvPr/>
        </p:nvSpPr>
        <p:spPr>
          <a:xfrm>
            <a:off x="8365331" y="4942582"/>
            <a:ext cx="60721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PAGE 06/12</a:t>
            </a:r>
            <a:endParaRPr lang="en-US" sz="683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285750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707231" y="106263"/>
            <a:ext cx="2125266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algorithmic_art.ts — zsh — 1280x720</a:t>
            </a:r>
            <a:endParaRPr lang="en-US" sz="727" dirty="0"/>
          </a:p>
        </p:txBody>
      </p:sp>
      <p:sp>
        <p:nvSpPr>
          <p:cNvPr id="5" name="Text 2"/>
          <p:cNvSpPr/>
          <p:nvPr/>
        </p:nvSpPr>
        <p:spPr>
          <a:xfrm>
            <a:off x="457200" y="742950"/>
            <a:ext cx="8229600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$ invoke --skill "algorithmic-art"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57200" y="1328738"/>
            <a:ext cx="3971925" cy="2857500"/>
          </a:xfrm>
          <a:prstGeom prst="rect">
            <a:avLst/>
          </a:prstGeom>
          <a:solidFill>
            <a:srgbClr val="252526"/>
          </a:solidFill>
          <a:ln w="9144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671513" y="1543050"/>
            <a:ext cx="3543300" cy="246459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generator.ts</a:t>
            </a:r>
            <a:endParaRPr lang="en-US" sz="942" dirty="0"/>
          </a:p>
        </p:txBody>
      </p:sp>
      <p:sp>
        <p:nvSpPr>
          <p:cNvPr id="8" name="Text 5"/>
          <p:cNvSpPr/>
          <p:nvPr/>
        </p:nvSpPr>
        <p:spPr>
          <a:xfrm>
            <a:off x="671513" y="1932384"/>
            <a:ext cx="3543300" cy="1928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6A9955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// Generating unique brand assets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 </a:t>
            </a:r>
            <a:r>
              <a:rPr lang="en-US" sz="942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const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r>
              <a:rPr lang="en-US" sz="942" dirty="0">
                <a:solidFill>
                  <a:srgbClr val="DCDCA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art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= </a:t>
            </a:r>
            <a:r>
              <a:rPr lang="en-US" sz="942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await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r>
              <a:rPr lang="en-US" sz="942" dirty="0">
                <a:solidFill>
                  <a:srgbClr val="DCDCA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generateSVG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({
 style: </a:t>
            </a:r>
            <a:r>
              <a:rPr lang="en-US" sz="942" dirty="0">
                <a:solidFill>
                  <a:srgbClr val="CE917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"morphing-blobs"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
 complexity: </a:t>
            </a:r>
            <a:r>
              <a:rPr lang="en-US" sz="942" dirty="0">
                <a:solidFill>
                  <a:srgbClr val="CE917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"high"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
 animate: </a:t>
            </a:r>
            <a:r>
              <a:rPr lang="en-US" sz="942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true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
 colors: [</a:t>
            </a:r>
            <a:r>
              <a:rPr lang="en-US" sz="942" dirty="0">
                <a:solidFill>
                  <a:srgbClr val="CE917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"#00FF41"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 </a:t>
            </a:r>
            <a:r>
              <a:rPr lang="en-US" sz="942" dirty="0">
                <a:solidFill>
                  <a:srgbClr val="CE917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"#569CD6"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]
 });
 </a:t>
            </a:r>
            <a:r>
              <a:rPr lang="en-US" sz="942" dirty="0">
                <a:solidFill>
                  <a:srgbClr val="6A9955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// No stock graphics needed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 </a:t>
            </a:r>
            <a:r>
              <a:rPr lang="en-US" sz="942" dirty="0">
                <a:solidFill>
                  <a:srgbClr val="DCDCA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renderToHero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(art);</a:t>
            </a:r>
            <a:endParaRPr lang="en-US" sz="942" dirty="0"/>
          </a:p>
        </p:txBody>
      </p:sp>
      <p:sp>
        <p:nvSpPr>
          <p:cNvPr id="9" name="Text 6"/>
          <p:cNvSpPr/>
          <p:nvPr/>
        </p:nvSpPr>
        <p:spPr>
          <a:xfrm>
            <a:off x="4714875" y="1835944"/>
            <a:ext cx="191095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04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✦</a:t>
            </a:r>
            <a:endParaRPr lang="en-US" sz="1704" dirty="0"/>
          </a:p>
        </p:txBody>
      </p:sp>
      <p:sp>
        <p:nvSpPr>
          <p:cNvPr id="10" name="Text 7"/>
          <p:cNvSpPr/>
          <p:nvPr/>
        </p:nvSpPr>
        <p:spPr>
          <a:xfrm>
            <a:off x="5048845" y="1760934"/>
            <a:ext cx="3637955" cy="450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Unique SVG Animations</a:t>
            </a: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built from pure code.</a:t>
            </a:r>
            <a:endParaRPr lang="en-US" sz="1193" dirty="0"/>
          </a:p>
        </p:txBody>
      </p:sp>
      <p:sp>
        <p:nvSpPr>
          <p:cNvPr id="11" name="Text 8"/>
          <p:cNvSpPr/>
          <p:nvPr/>
        </p:nvSpPr>
        <p:spPr>
          <a:xfrm>
            <a:off x="4714875" y="2500313"/>
            <a:ext cx="191095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04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✦</a:t>
            </a:r>
            <a:endParaRPr lang="en-US" sz="1704" dirty="0"/>
          </a:p>
        </p:txBody>
      </p:sp>
      <p:sp>
        <p:nvSpPr>
          <p:cNvPr id="12" name="Text 9"/>
          <p:cNvSpPr/>
          <p:nvPr/>
        </p:nvSpPr>
        <p:spPr>
          <a:xfrm>
            <a:off x="5048845" y="2425303"/>
            <a:ext cx="3637955" cy="450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Zero Stock Graphics</a:t>
            </a: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or downloaded assets.</a:t>
            </a:r>
            <a:endParaRPr lang="en-US" sz="1193" dirty="0"/>
          </a:p>
        </p:txBody>
      </p:sp>
      <p:sp>
        <p:nvSpPr>
          <p:cNvPr id="13" name="Text 10"/>
          <p:cNvSpPr/>
          <p:nvPr/>
        </p:nvSpPr>
        <p:spPr>
          <a:xfrm>
            <a:off x="4714875" y="3164681"/>
            <a:ext cx="191095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04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✦</a:t>
            </a:r>
            <a:endParaRPr lang="en-US" sz="1704" dirty="0"/>
          </a:p>
        </p:txBody>
      </p:sp>
      <p:sp>
        <p:nvSpPr>
          <p:cNvPr id="14" name="Text 11"/>
          <p:cNvSpPr/>
          <p:nvPr/>
        </p:nvSpPr>
        <p:spPr>
          <a:xfrm>
            <a:off x="5048845" y="3089672"/>
            <a:ext cx="3637955" cy="450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Generative UI</a:t>
            </a: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that adapts to your brand identity.</a:t>
            </a:r>
            <a:endParaRPr lang="en-US" sz="1193" dirty="0"/>
          </a:p>
        </p:txBody>
      </p:sp>
      <p:sp>
        <p:nvSpPr>
          <p:cNvPr id="15" name="Shape 12"/>
          <p:cNvSpPr/>
          <p:nvPr/>
        </p:nvSpPr>
        <p:spPr>
          <a:xfrm>
            <a:off x="28575" y="4900613"/>
            <a:ext cx="9086850" cy="214313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171450" y="4942582"/>
            <a:ext cx="36433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MASTER</a:t>
            </a:r>
            <a:endParaRPr lang="en-US" sz="683" dirty="0"/>
          </a:p>
        </p:txBody>
      </p:sp>
      <p:sp>
        <p:nvSpPr>
          <p:cNvPr id="17" name="Text 14"/>
          <p:cNvSpPr/>
          <p:nvPr/>
        </p:nvSpPr>
        <p:spPr>
          <a:xfrm>
            <a:off x="678656" y="4942582"/>
            <a:ext cx="30360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UTF-8</a:t>
            </a:r>
            <a:endParaRPr lang="en-US" sz="683" dirty="0"/>
          </a:p>
        </p:txBody>
      </p:sp>
      <p:sp>
        <p:nvSpPr>
          <p:cNvPr id="18" name="Text 15"/>
          <p:cNvSpPr/>
          <p:nvPr/>
        </p:nvSpPr>
        <p:spPr>
          <a:xfrm>
            <a:off x="8365331" y="4942582"/>
            <a:ext cx="60721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PAGE 07/12</a:t>
            </a:r>
            <a:endParaRPr lang="en-US" sz="683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285750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707231" y="106263"/>
            <a:ext cx="1943100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quality_gate.sh — zsh — 1280x720</a:t>
            </a:r>
            <a:endParaRPr lang="en-US" sz="727" dirty="0"/>
          </a:p>
        </p:txBody>
      </p:sp>
      <p:sp>
        <p:nvSpPr>
          <p:cNvPr id="5" name="Text 2"/>
          <p:cNvSpPr/>
          <p:nvPr/>
        </p:nvSpPr>
        <p:spPr>
          <a:xfrm>
            <a:off x="457200" y="742950"/>
            <a:ext cx="8229600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$ run-audit --all-skills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57200" y="1214438"/>
            <a:ext cx="4029075" cy="2286000"/>
          </a:xfrm>
          <a:prstGeom prst="rect">
            <a:avLst/>
          </a:prstGeom>
          <a:solidFill>
            <a:srgbClr val="252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457200" y="1214438"/>
            <a:ext cx="4029075" cy="14288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571500" y="1328738"/>
            <a:ext cx="3800475" cy="194667"/>
          </a:xfrm>
          <a:prstGeom prst="rect">
            <a:avLst/>
          </a:prstGeom>
          <a:noFill/>
          <a:ln/>
        </p:spPr>
        <p:txBody>
          <a:bodyPr wrap="square" lIns="0" tIns="0" rIns="0" bIns="68072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SKILL: security-audit</a:t>
            </a:r>
            <a:endParaRPr lang="en-US" sz="727" dirty="0"/>
          </a:p>
        </p:txBody>
      </p:sp>
      <p:sp>
        <p:nvSpPr>
          <p:cNvPr id="9" name="Text 6"/>
          <p:cNvSpPr/>
          <p:nvPr/>
        </p:nvSpPr>
        <p:spPr>
          <a:xfrm>
            <a:off x="571500" y="1609130"/>
            <a:ext cx="3800475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SCANNING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for vulnerabilities...</a:t>
            </a:r>
            <a:endParaRPr lang="en-US" sz="942" dirty="0"/>
          </a:p>
        </p:txBody>
      </p:sp>
      <p:sp>
        <p:nvSpPr>
          <p:cNvPr id="10" name="Text 7"/>
          <p:cNvSpPr/>
          <p:nvPr/>
        </p:nvSpPr>
        <p:spPr>
          <a:xfrm>
            <a:off x="571500" y="1846297"/>
            <a:ext cx="3800475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FF5F5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[CRITICAL]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XSS vector found in contact-form.tsx</a:t>
            </a:r>
            <a:endParaRPr lang="en-US" sz="885" dirty="0"/>
          </a:p>
        </p:txBody>
      </p:sp>
      <p:sp>
        <p:nvSpPr>
          <p:cNvPr id="11" name="Text 8"/>
          <p:cNvSpPr/>
          <p:nvPr/>
        </p:nvSpPr>
        <p:spPr>
          <a:xfrm>
            <a:off x="571500" y="2083464"/>
            <a:ext cx="3800475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FF5F5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[CRITICAL]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SSRF risk in API route handler</a:t>
            </a:r>
            <a:endParaRPr lang="en-US" sz="885" dirty="0"/>
          </a:p>
        </p:txBody>
      </p:sp>
      <p:sp>
        <p:nvSpPr>
          <p:cNvPr id="12" name="Text 9"/>
          <p:cNvSpPr/>
          <p:nvPr/>
        </p:nvSpPr>
        <p:spPr>
          <a:xfrm>
            <a:off x="571500" y="2320630"/>
            <a:ext cx="3800475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FFBD2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[WARNING]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Missing rate limiting on /api/auth</a:t>
            </a:r>
            <a:endParaRPr lang="en-US" sz="942" dirty="0"/>
          </a:p>
        </p:txBody>
      </p:sp>
      <p:sp>
        <p:nvSpPr>
          <p:cNvPr id="13" name="Text 10"/>
          <p:cNvSpPr/>
          <p:nvPr/>
        </p:nvSpPr>
        <p:spPr>
          <a:xfrm>
            <a:off x="571500" y="2557797"/>
            <a:ext cx="3800475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[FIXED]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Input validation applied to 4 fields</a:t>
            </a:r>
            <a:endParaRPr lang="en-US" sz="942" dirty="0"/>
          </a:p>
        </p:txBody>
      </p:sp>
      <p:sp>
        <p:nvSpPr>
          <p:cNvPr id="14" name="Shape 11"/>
          <p:cNvSpPr/>
          <p:nvPr/>
        </p:nvSpPr>
        <p:spPr>
          <a:xfrm>
            <a:off x="4657725" y="1214438"/>
            <a:ext cx="4029075" cy="2286000"/>
          </a:xfrm>
          <a:prstGeom prst="rect">
            <a:avLst/>
          </a:prstGeom>
          <a:solidFill>
            <a:srgbClr val="252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4657725" y="1214438"/>
            <a:ext cx="4029075" cy="14288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4772025" y="1328738"/>
            <a:ext cx="3800475" cy="194667"/>
          </a:xfrm>
          <a:prstGeom prst="rect">
            <a:avLst/>
          </a:prstGeom>
          <a:noFill/>
          <a:ln/>
        </p:spPr>
        <p:txBody>
          <a:bodyPr wrap="square" lIns="0" tIns="0" rIns="0" bIns="68072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SKILL: code-review (J-Star)</a:t>
            </a:r>
            <a:endParaRPr lang="en-US" sz="727" dirty="0"/>
          </a:p>
        </p:txBody>
      </p:sp>
      <p:sp>
        <p:nvSpPr>
          <p:cNvPr id="17" name="Text 14"/>
          <p:cNvSpPr/>
          <p:nvPr/>
        </p:nvSpPr>
        <p:spPr>
          <a:xfrm>
            <a:off x="4772025" y="1609130"/>
            <a:ext cx="3800475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ANALYZING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codebase patterns...</a:t>
            </a:r>
            <a:endParaRPr lang="en-US" sz="942" dirty="0"/>
          </a:p>
        </p:txBody>
      </p:sp>
      <p:sp>
        <p:nvSpPr>
          <p:cNvPr id="18" name="Text 15"/>
          <p:cNvSpPr/>
          <p:nvPr/>
        </p:nvSpPr>
        <p:spPr>
          <a:xfrm>
            <a:off x="4772025" y="1846297"/>
            <a:ext cx="3800475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FF5F5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[P0]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Memory leak in useEffect cleanup</a:t>
            </a:r>
            <a:endParaRPr lang="en-US" sz="885" dirty="0"/>
          </a:p>
        </p:txBody>
      </p:sp>
      <p:sp>
        <p:nvSpPr>
          <p:cNvPr id="19" name="Text 16"/>
          <p:cNvSpPr/>
          <p:nvPr/>
        </p:nvSpPr>
        <p:spPr>
          <a:xfrm>
            <a:off x="4772025" y="2083464"/>
            <a:ext cx="3800475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FFBD2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[P1]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Prop drilling detected in Dashboard</a:t>
            </a:r>
            <a:endParaRPr lang="en-US" sz="942" dirty="0"/>
          </a:p>
        </p:txBody>
      </p:sp>
      <p:sp>
        <p:nvSpPr>
          <p:cNvPr id="20" name="Text 17"/>
          <p:cNvSpPr/>
          <p:nvPr/>
        </p:nvSpPr>
        <p:spPr>
          <a:xfrm>
            <a:off x="4772025" y="2320630"/>
            <a:ext cx="3800475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[RESOLVED]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P0 issues auto-fixed via skill</a:t>
            </a:r>
            <a:endParaRPr lang="en-US" sz="942" dirty="0"/>
          </a:p>
        </p:txBody>
      </p:sp>
      <p:sp>
        <p:nvSpPr>
          <p:cNvPr id="21" name="Text 18"/>
          <p:cNvSpPr/>
          <p:nvPr/>
        </p:nvSpPr>
        <p:spPr>
          <a:xfrm>
            <a:off x="4772025" y="2557797"/>
            <a:ext cx="3800475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[PASSED]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Pattern compliance: 98%</a:t>
            </a:r>
            <a:endParaRPr lang="en-US" sz="942" dirty="0"/>
          </a:p>
        </p:txBody>
      </p:sp>
      <p:sp>
        <p:nvSpPr>
          <p:cNvPr id="22" name="Text 19"/>
          <p:cNvSpPr/>
          <p:nvPr/>
        </p:nvSpPr>
        <p:spPr>
          <a:xfrm>
            <a:off x="457200" y="3643313"/>
            <a:ext cx="8229600" cy="542925"/>
          </a:xfrm>
          <a:prstGeom prst="rect">
            <a:avLst/>
          </a:prstGeom>
          <a:noFill/>
          <a:ln/>
        </p:spPr>
        <p:txBody>
          <a:bodyPr wrap="square" lIns="0" tIns="102108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The difference between a </a:t>
            </a:r>
            <a:r>
              <a:rPr lang="en-US" sz="1269" dirty="0">
                <a:solidFill>
                  <a:srgbClr val="FFBD2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demo project</a:t>
            </a: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and a </a:t>
            </a:r>
            <a:r>
              <a:rPr lang="en-US" sz="1269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production app</a:t>
            </a: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is a rigorous, automated quality gate.</a:t>
            </a:r>
            <a:endParaRPr lang="en-US" sz="1269" dirty="0"/>
          </a:p>
        </p:txBody>
      </p:sp>
      <p:sp>
        <p:nvSpPr>
          <p:cNvPr id="23" name="Shape 20"/>
          <p:cNvSpPr/>
          <p:nvPr/>
        </p:nvSpPr>
        <p:spPr>
          <a:xfrm>
            <a:off x="28575" y="4900613"/>
            <a:ext cx="9086850" cy="214313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1"/>
          <p:cNvSpPr/>
          <p:nvPr/>
        </p:nvSpPr>
        <p:spPr>
          <a:xfrm>
            <a:off x="171450" y="4942582"/>
            <a:ext cx="36433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MASTER</a:t>
            </a:r>
            <a:endParaRPr lang="en-US" sz="683" dirty="0"/>
          </a:p>
        </p:txBody>
      </p:sp>
      <p:sp>
        <p:nvSpPr>
          <p:cNvPr id="25" name="Text 22"/>
          <p:cNvSpPr/>
          <p:nvPr/>
        </p:nvSpPr>
        <p:spPr>
          <a:xfrm>
            <a:off x="678656" y="4942582"/>
            <a:ext cx="30360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UTF-8</a:t>
            </a:r>
            <a:endParaRPr lang="en-US" sz="683" dirty="0"/>
          </a:p>
        </p:txBody>
      </p:sp>
      <p:sp>
        <p:nvSpPr>
          <p:cNvPr id="26" name="Text 23"/>
          <p:cNvSpPr/>
          <p:nvPr/>
        </p:nvSpPr>
        <p:spPr>
          <a:xfrm>
            <a:off x="8365331" y="4942582"/>
            <a:ext cx="60721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PAGE 08/12</a:t>
            </a:r>
            <a:endParaRPr lang="en-US" sz="683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7667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285750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707231" y="106263"/>
            <a:ext cx="2003822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seo_marketing.sh — zsh — 1280x720</a:t>
            </a:r>
            <a:endParaRPr lang="en-US" sz="727" dirty="0"/>
          </a:p>
        </p:txBody>
      </p:sp>
      <p:sp>
        <p:nvSpPr>
          <p:cNvPr id="5" name="Text 2"/>
          <p:cNvSpPr/>
          <p:nvPr/>
        </p:nvSpPr>
        <p:spPr>
          <a:xfrm>
            <a:off x="457200" y="742950"/>
            <a:ext cx="8229600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$ invoke --layer "marketing-seo"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57200" y="1328738"/>
            <a:ext cx="3971925" cy="2869248"/>
          </a:xfrm>
          <a:prstGeom prst="rect">
            <a:avLst/>
          </a:prstGeom>
          <a:solidFill>
            <a:srgbClr val="252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457200" y="1328738"/>
            <a:ext cx="3971925" cy="14288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35794" y="1507331"/>
            <a:ext cx="3614738" cy="208955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SKILL: seo-ready</a:t>
            </a:r>
            <a:endParaRPr lang="en-US" sz="727" dirty="0"/>
          </a:p>
        </p:txBody>
      </p:sp>
      <p:sp>
        <p:nvSpPr>
          <p:cNvPr id="9" name="Text 6"/>
          <p:cNvSpPr/>
          <p:nvPr/>
        </p:nvSpPr>
        <p:spPr>
          <a:xfrm>
            <a:off x="635794" y="1859161"/>
            <a:ext cx="361473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INJECTING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Meta Descriptions... </a:t>
            </a: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DONE</a:t>
            </a:r>
            <a:endParaRPr lang="en-US" sz="942" dirty="0"/>
          </a:p>
        </p:txBody>
      </p:sp>
      <p:sp>
        <p:nvSpPr>
          <p:cNvPr id="10" name="Text 7"/>
          <p:cNvSpPr/>
          <p:nvPr/>
        </p:nvSpPr>
        <p:spPr>
          <a:xfrm>
            <a:off x="635794" y="2124903"/>
            <a:ext cx="361473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GENERATING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Open Graph Tags... </a:t>
            </a: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DONE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635794" y="2390645"/>
            <a:ext cx="361473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BUILDING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Structured Data... </a:t>
            </a: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DONE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635794" y="2656387"/>
            <a:ext cx="361473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AUDITING</a:t>
            </a:r>
            <a:r>
              <a:rPr lang="en-US" sz="942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Heading Hierarchy... </a:t>
            </a: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PASSED</a:t>
            </a:r>
            <a:endParaRPr lang="en-US" sz="942" dirty="0"/>
          </a:p>
        </p:txBody>
      </p:sp>
      <p:sp>
        <p:nvSpPr>
          <p:cNvPr id="13" name="Text 10"/>
          <p:cNvSpPr/>
          <p:nvPr/>
        </p:nvSpPr>
        <p:spPr>
          <a:xfrm>
            <a:off x="635794" y="2979279"/>
            <a:ext cx="361473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// 10 seconds to complete 1 hour of manual work</a:t>
            </a:r>
            <a:endParaRPr lang="en-US" sz="942" dirty="0"/>
          </a:p>
        </p:txBody>
      </p:sp>
      <p:sp>
        <p:nvSpPr>
          <p:cNvPr id="14" name="Shape 11"/>
          <p:cNvSpPr/>
          <p:nvPr/>
        </p:nvSpPr>
        <p:spPr>
          <a:xfrm>
            <a:off x="4714875" y="1328738"/>
            <a:ext cx="3971925" cy="2869248"/>
          </a:xfrm>
          <a:prstGeom prst="rect">
            <a:avLst/>
          </a:prstGeom>
          <a:solidFill>
            <a:srgbClr val="1A1A1A"/>
          </a:solidFill>
          <a:ln w="9144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/>
          <p:nvPr/>
        </p:nvSpPr>
        <p:spPr>
          <a:xfrm>
            <a:off x="4893469" y="1507331"/>
            <a:ext cx="3614738" cy="208955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SKILL: copywriting</a:t>
            </a:r>
            <a:endParaRPr lang="en-US" sz="727" dirty="0"/>
          </a:p>
        </p:txBody>
      </p:sp>
      <p:sp>
        <p:nvSpPr>
          <p:cNvPr id="16" name="Text 13"/>
          <p:cNvSpPr/>
          <p:nvPr/>
        </p:nvSpPr>
        <p:spPr>
          <a:xfrm>
            <a:off x="4893469" y="1859161"/>
            <a:ext cx="361473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BEFORE (Developer Copy):</a:t>
            </a:r>
            <a:endParaRPr lang="en-US" sz="727" dirty="0"/>
          </a:p>
        </p:txBody>
      </p:sp>
      <p:sp>
        <p:nvSpPr>
          <p:cNvPr id="17" name="Text 14"/>
          <p:cNvSpPr/>
          <p:nvPr/>
        </p:nvSpPr>
        <p:spPr>
          <a:xfrm>
            <a:off x="4893469" y="2060972"/>
            <a:ext cx="3614738" cy="375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strike="sngStrike" dirty="0">
                <a:solidFill>
                  <a:srgbClr val="FF5F5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"This is a SaaS product for managing your tasks efficiently."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893469" y="2650331"/>
            <a:ext cx="361473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AFTER (Marketer Copy):</a:t>
            </a:r>
            <a:endParaRPr lang="en-US" sz="727" dirty="0"/>
          </a:p>
        </p:txBody>
      </p:sp>
      <p:sp>
        <p:nvSpPr>
          <p:cNvPr id="19" name="Text 16"/>
          <p:cNvSpPr/>
          <p:nvPr/>
        </p:nvSpPr>
        <p:spPr>
          <a:xfrm>
            <a:off x="4893469" y="2852142"/>
            <a:ext cx="3614738" cy="780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397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"Stop Wasting Tokens. Build a 50+ Skill AI Operating System in Seconds."</a:t>
            </a:r>
            <a:endParaRPr lang="en-US" sz="1397" dirty="0"/>
          </a:p>
        </p:txBody>
      </p:sp>
      <p:sp>
        <p:nvSpPr>
          <p:cNvPr id="20" name="Text 17"/>
          <p:cNvSpPr/>
          <p:nvPr/>
        </p:nvSpPr>
        <p:spPr>
          <a:xfrm>
            <a:off x="4893469" y="3917956"/>
            <a:ext cx="361473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✔ Benefit-driven &amp; Specific</a:t>
            </a:r>
            <a:endParaRPr lang="en-US" sz="942" dirty="0"/>
          </a:p>
        </p:txBody>
      </p:sp>
      <p:sp>
        <p:nvSpPr>
          <p:cNvPr id="21" name="Text 18"/>
          <p:cNvSpPr/>
          <p:nvPr/>
        </p:nvSpPr>
        <p:spPr>
          <a:xfrm>
            <a:off x="457200" y="4471988"/>
            <a:ext cx="8229600" cy="450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 beautiful site is </a:t>
            </a:r>
            <a:r>
              <a:rPr lang="en-US" sz="1269" dirty="0">
                <a:solidFill>
                  <a:srgbClr val="FF5F5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useless</a:t>
            </a: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if Google can't find it or if the copy doesn't </a:t>
            </a:r>
            <a:r>
              <a:rPr lang="en-US" sz="1269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convert</a:t>
            </a: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.</a:t>
            </a:r>
            <a:endParaRPr lang="en-US" sz="1269" dirty="0"/>
          </a:p>
        </p:txBody>
      </p:sp>
      <p:sp>
        <p:nvSpPr>
          <p:cNvPr id="22" name="Shape 19"/>
          <p:cNvSpPr/>
          <p:nvPr/>
        </p:nvSpPr>
        <p:spPr>
          <a:xfrm>
            <a:off x="28575" y="4922044"/>
            <a:ext cx="9086850" cy="214313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171450" y="4964013"/>
            <a:ext cx="36433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MASTER</a:t>
            </a:r>
            <a:endParaRPr lang="en-US" sz="683" dirty="0"/>
          </a:p>
        </p:txBody>
      </p:sp>
      <p:sp>
        <p:nvSpPr>
          <p:cNvPr id="24" name="Text 21"/>
          <p:cNvSpPr/>
          <p:nvPr/>
        </p:nvSpPr>
        <p:spPr>
          <a:xfrm>
            <a:off x="678656" y="4964013"/>
            <a:ext cx="30360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UTF-8</a:t>
            </a:r>
            <a:endParaRPr lang="en-US" sz="683" dirty="0"/>
          </a:p>
        </p:txBody>
      </p:sp>
      <p:sp>
        <p:nvSpPr>
          <p:cNvPr id="25" name="Text 22"/>
          <p:cNvSpPr/>
          <p:nvPr/>
        </p:nvSpPr>
        <p:spPr>
          <a:xfrm>
            <a:off x="8365331" y="4964013"/>
            <a:ext cx="60721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PAGE 09/12</a:t>
            </a:r>
            <a:endParaRPr lang="en-US" sz="683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285750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707231" y="106263"/>
            <a:ext cx="2003822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skill_creator.sh — zsh — 1280x720</a:t>
            </a:r>
            <a:endParaRPr lang="en-US" sz="727" dirty="0"/>
          </a:p>
        </p:txBody>
      </p:sp>
      <p:sp>
        <p:nvSpPr>
          <p:cNvPr id="5" name="Text 2"/>
          <p:cNvSpPr/>
          <p:nvPr/>
        </p:nvSpPr>
        <p:spPr>
          <a:xfrm>
            <a:off x="457200" y="742950"/>
            <a:ext cx="8229600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$ invoke --skill "skill-creator"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57200" y="1328738"/>
            <a:ext cx="3610831" cy="2857500"/>
          </a:xfrm>
          <a:prstGeom prst="rect">
            <a:avLst/>
          </a:prstGeom>
          <a:solidFill>
            <a:srgbClr val="252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457200" y="1328738"/>
            <a:ext cx="35719" cy="2857500"/>
          </a:xfrm>
          <a:prstGeom prst="rect">
            <a:avLst/>
          </a:prstGeom>
          <a:solidFill>
            <a:srgbClr val="00FF4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71513" y="1543050"/>
            <a:ext cx="3182206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USER_INPUT</a:t>
            </a:r>
            <a:endParaRPr lang="en-US" sz="727" dirty="0"/>
          </a:p>
        </p:txBody>
      </p:sp>
      <p:sp>
        <p:nvSpPr>
          <p:cNvPr id="9" name="Text 6"/>
          <p:cNvSpPr/>
          <p:nvPr/>
        </p:nvSpPr>
        <p:spPr>
          <a:xfrm>
            <a:off x="671513" y="1816298"/>
            <a:ext cx="3182206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"Build me a skill that handles </a:t>
            </a:r>
            <a:r>
              <a:rPr lang="en-US" sz="1193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deployment to Vercel</a:t>
            </a: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 checks for environment variables, and runs a </a:t>
            </a:r>
            <a:r>
              <a:rPr lang="en-US" sz="1193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Lighthouse audit</a:t>
            </a: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automatically."</a:t>
            </a:r>
            <a:endParaRPr lang="en-US" sz="1269" dirty="0"/>
          </a:p>
        </p:txBody>
      </p:sp>
      <p:sp>
        <p:nvSpPr>
          <p:cNvPr id="10" name="Text 7"/>
          <p:cNvSpPr/>
          <p:nvPr/>
        </p:nvSpPr>
        <p:spPr>
          <a:xfrm>
            <a:off x="671513" y="3530798"/>
            <a:ext cx="3182206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[GENERATING SKILL.md...]</a:t>
            </a:r>
            <a:endParaRPr lang="en-US" sz="942" dirty="0"/>
          </a:p>
        </p:txBody>
      </p:sp>
      <p:sp>
        <p:nvSpPr>
          <p:cNvPr id="11" name="Shape 8"/>
          <p:cNvSpPr/>
          <p:nvPr/>
        </p:nvSpPr>
        <p:spPr>
          <a:xfrm>
            <a:off x="4353781" y="1328738"/>
            <a:ext cx="4333019" cy="2857500"/>
          </a:xfrm>
          <a:prstGeom prst="rect">
            <a:avLst/>
          </a:prstGeom>
          <a:solidFill>
            <a:srgbClr val="1A1A1A"/>
          </a:solidFill>
          <a:ln w="9144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4568093" y="1543050"/>
            <a:ext cx="3904394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GENERATED: .AGENT/SKILLS/VERCEL-DEPLOY/SKILL.MD</a:t>
            </a:r>
            <a:endParaRPr lang="en-US" sz="727" dirty="0"/>
          </a:p>
        </p:txBody>
      </p:sp>
      <p:sp>
        <p:nvSpPr>
          <p:cNvPr id="13" name="Text 10"/>
          <p:cNvSpPr/>
          <p:nvPr/>
        </p:nvSpPr>
        <p:spPr>
          <a:xfrm>
            <a:off x="4568093" y="1825926"/>
            <a:ext cx="3904394" cy="20801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# Vercel Deployment Skill</a:t>
            </a:r>
            <a:r>
              <a:rPr lang="en-US" sz="834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 </a:t>
            </a:r>
            <a:r>
              <a:rPr lang="en-US" sz="834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## Description</a:t>
            </a:r>
            <a:r>
              <a:rPr lang="en-US" sz="834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 Automates Vercel deployments with safety checks.
 </a:t>
            </a:r>
            <a:r>
              <a:rPr lang="en-US" sz="834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## Triggers</a:t>
            </a:r>
            <a:r>
              <a:rPr lang="en-US" sz="834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 - </a:t>
            </a:r>
            <a:r>
              <a:rPr lang="en-US" sz="834" dirty="0">
                <a:solidFill>
                  <a:srgbClr val="CE917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"deploy to production"</a:t>
            </a:r>
            <a:r>
              <a:rPr lang="en-US" sz="834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 - </a:t>
            </a:r>
            <a:r>
              <a:rPr lang="en-US" sz="834" dirty="0">
                <a:solidFill>
                  <a:srgbClr val="CE917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"ship it"</a:t>
            </a:r>
            <a:r>
              <a:rPr lang="en-US" sz="834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 </a:t>
            </a:r>
            <a:r>
              <a:rPr lang="en-US" sz="834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## Instructions</a:t>
            </a:r>
            <a:r>
              <a:rPr lang="en-US" sz="834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 1. </a:t>
            </a:r>
            <a:r>
              <a:rPr lang="en-US" sz="834" dirty="0">
                <a:solidFill>
                  <a:srgbClr val="6A9955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Verify .env.production</a:t>
            </a:r>
            <a:r>
              <a:rPr lang="en-US" sz="834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 2. </a:t>
            </a:r>
            <a:r>
              <a:rPr lang="en-US" sz="834" dirty="0">
                <a:solidFill>
                  <a:srgbClr val="6A9955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Run 'vercel --prod'</a:t>
            </a:r>
            <a:r>
              <a:rPr lang="en-US" sz="834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 3. </a:t>
            </a:r>
            <a:r>
              <a:rPr lang="en-US" sz="834" dirty="0">
                <a:solidFill>
                  <a:srgbClr val="6A9955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Trigger Lighthouse Audit</a:t>
            </a:r>
            <a:endParaRPr lang="en-US" sz="834" dirty="0"/>
          </a:p>
        </p:txBody>
      </p:sp>
      <p:sp>
        <p:nvSpPr>
          <p:cNvPr id="14" name="Text 11"/>
          <p:cNvSpPr/>
          <p:nvPr/>
        </p:nvSpPr>
        <p:spPr>
          <a:xfrm>
            <a:off x="457200" y="4471988"/>
            <a:ext cx="8229600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"Don't download skills—</a:t>
            </a:r>
            <a:r>
              <a:rPr lang="en-US" sz="1269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build them</a:t>
            </a: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to match YOUR brain."</a:t>
            </a:r>
            <a:endParaRPr lang="en-US" sz="1269" dirty="0"/>
          </a:p>
        </p:txBody>
      </p:sp>
      <p:sp>
        <p:nvSpPr>
          <p:cNvPr id="15" name="Shape 12"/>
          <p:cNvSpPr/>
          <p:nvPr/>
        </p:nvSpPr>
        <p:spPr>
          <a:xfrm>
            <a:off x="28575" y="4900613"/>
            <a:ext cx="9086850" cy="214313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171450" y="4942582"/>
            <a:ext cx="1032272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META_LAYER_ACTIVE</a:t>
            </a:r>
            <a:endParaRPr lang="en-US" sz="683" dirty="0"/>
          </a:p>
        </p:txBody>
      </p:sp>
      <p:sp>
        <p:nvSpPr>
          <p:cNvPr id="17" name="Text 14"/>
          <p:cNvSpPr/>
          <p:nvPr/>
        </p:nvSpPr>
        <p:spPr>
          <a:xfrm>
            <a:off x="1346597" y="4942582"/>
            <a:ext cx="30360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UTF-8</a:t>
            </a:r>
            <a:endParaRPr lang="en-US" sz="683" dirty="0"/>
          </a:p>
        </p:txBody>
      </p:sp>
      <p:sp>
        <p:nvSpPr>
          <p:cNvPr id="18" name="Text 15"/>
          <p:cNvSpPr/>
          <p:nvPr/>
        </p:nvSpPr>
        <p:spPr>
          <a:xfrm>
            <a:off x="8365331" y="4942582"/>
            <a:ext cx="60721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PAGE 10/12</a:t>
            </a:r>
            <a:endParaRPr lang="en-US" sz="683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285750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707231" y="106263"/>
            <a:ext cx="1821656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the_reveal.sh — zsh — 1280x720</a:t>
            </a:r>
            <a:endParaRPr lang="en-US" sz="727" dirty="0"/>
          </a:p>
        </p:txBody>
      </p:sp>
      <p:sp>
        <p:nvSpPr>
          <p:cNvPr id="5" name="Text 2"/>
          <p:cNvSpPr/>
          <p:nvPr/>
        </p:nvSpPr>
        <p:spPr>
          <a:xfrm>
            <a:off x="669727" y="742950"/>
            <a:ext cx="7804547" cy="4500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5F5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$ cat .agent/logs/youtube-pipeline.log</a:t>
            </a:r>
            <a:endParaRPr lang="en-US" sz="2436" dirty="0"/>
          </a:p>
        </p:txBody>
      </p:sp>
      <p:sp>
        <p:nvSpPr>
          <p:cNvPr id="6" name="Shape 3"/>
          <p:cNvSpPr/>
          <p:nvPr/>
        </p:nvSpPr>
        <p:spPr>
          <a:xfrm>
            <a:off x="1357313" y="1550194"/>
            <a:ext cx="6429375" cy="2857500"/>
          </a:xfrm>
          <a:prstGeom prst="rect">
            <a:avLst/>
          </a:prstGeom>
          <a:solidFill>
            <a:srgbClr val="252526"/>
          </a:solidFill>
          <a:ln w="18288">
            <a:solidFill>
              <a:srgbClr val="569C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1643063" y="1835944"/>
            <a:ext cx="5857875" cy="339328"/>
          </a:xfrm>
          <a:prstGeom prst="rect">
            <a:avLst/>
          </a:prstGeom>
          <a:noFill/>
          <a:ln/>
        </p:spPr>
        <p:txBody>
          <a:bodyPr wrap="square" lIns="0" tIns="0" rIns="0" bIns="127508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SYSTEM REVEAL: youtube-pipeline skill</a:t>
            </a:r>
            <a:endParaRPr lang="en-US" sz="1193" dirty="0"/>
          </a:p>
        </p:txBody>
      </p:sp>
      <p:sp>
        <p:nvSpPr>
          <p:cNvPr id="8" name="Text 5"/>
          <p:cNvSpPr/>
          <p:nvPr/>
        </p:nvSpPr>
        <p:spPr>
          <a:xfrm>
            <a:off x="1643063" y="2389584"/>
            <a:ext cx="132159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✔</a:t>
            </a:r>
            <a:endParaRPr lang="en-US" sz="1090" dirty="0"/>
          </a:p>
        </p:txBody>
      </p:sp>
      <p:sp>
        <p:nvSpPr>
          <p:cNvPr id="9" name="Text 6"/>
          <p:cNvSpPr/>
          <p:nvPr/>
        </p:nvSpPr>
        <p:spPr>
          <a:xfrm>
            <a:off x="1918097" y="2389584"/>
            <a:ext cx="4448770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Competitor Analysis &amp; Market Gap Identification</a:t>
            </a:r>
            <a:endParaRPr lang="en-US" sz="1159" dirty="0"/>
          </a:p>
        </p:txBody>
      </p:sp>
      <p:sp>
        <p:nvSpPr>
          <p:cNvPr id="10" name="Text 7"/>
          <p:cNvSpPr/>
          <p:nvPr/>
        </p:nvSpPr>
        <p:spPr>
          <a:xfrm>
            <a:off x="1643063" y="2737842"/>
            <a:ext cx="132159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✔</a:t>
            </a:r>
            <a:endParaRPr lang="en-US" sz="1090" dirty="0"/>
          </a:p>
        </p:txBody>
      </p:sp>
      <p:sp>
        <p:nvSpPr>
          <p:cNvPr id="11" name="Text 8"/>
          <p:cNvSpPr/>
          <p:nvPr/>
        </p:nvSpPr>
        <p:spPr>
          <a:xfrm>
            <a:off x="1918097" y="2737842"/>
            <a:ext cx="3312914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VidIQ &amp; Google Trends Data Scraping</a:t>
            </a:r>
            <a:endParaRPr lang="en-US" sz="1159" dirty="0"/>
          </a:p>
        </p:txBody>
      </p:sp>
      <p:sp>
        <p:nvSpPr>
          <p:cNvPr id="12" name="Text 9"/>
          <p:cNvSpPr/>
          <p:nvPr/>
        </p:nvSpPr>
        <p:spPr>
          <a:xfrm>
            <a:off x="1643063" y="3086100"/>
            <a:ext cx="132159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✔</a:t>
            </a:r>
            <a:endParaRPr lang="en-US" sz="1090" dirty="0"/>
          </a:p>
        </p:txBody>
      </p:sp>
      <p:sp>
        <p:nvSpPr>
          <p:cNvPr id="13" name="Text 10"/>
          <p:cNvSpPr/>
          <p:nvPr/>
        </p:nvSpPr>
        <p:spPr>
          <a:xfrm>
            <a:off x="1918097" y="3086100"/>
            <a:ext cx="4070152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10 Title Options &amp; Thumbnail Concept Design</a:t>
            </a:r>
            <a:endParaRPr lang="en-US" sz="1159" dirty="0"/>
          </a:p>
        </p:txBody>
      </p:sp>
      <p:sp>
        <p:nvSpPr>
          <p:cNvPr id="14" name="Text 11"/>
          <p:cNvSpPr/>
          <p:nvPr/>
        </p:nvSpPr>
        <p:spPr>
          <a:xfrm>
            <a:off x="1643063" y="3434358"/>
            <a:ext cx="132159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✔</a:t>
            </a:r>
            <a:endParaRPr lang="en-US" sz="1090" dirty="0"/>
          </a:p>
        </p:txBody>
      </p:sp>
      <p:sp>
        <p:nvSpPr>
          <p:cNvPr id="15" name="Text 12"/>
          <p:cNvSpPr/>
          <p:nvPr/>
        </p:nvSpPr>
        <p:spPr>
          <a:xfrm>
            <a:off x="1918097" y="3434358"/>
            <a:ext cx="4259461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Full Script Structure Generation</a:t>
            </a:r>
            <a:r>
              <a:rPr lang="en-US" sz="115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(This Video)</a:t>
            </a:r>
            <a:endParaRPr lang="en-US" sz="1090" dirty="0"/>
          </a:p>
        </p:txBody>
      </p:sp>
      <p:sp>
        <p:nvSpPr>
          <p:cNvPr id="16" name="Text 13"/>
          <p:cNvSpPr/>
          <p:nvPr/>
        </p:nvSpPr>
        <p:spPr>
          <a:xfrm>
            <a:off x="1643063" y="3925491"/>
            <a:ext cx="5857875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"This video was produced by a </a:t>
            </a:r>
            <a:r>
              <a:rPr lang="en-US" sz="1269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skill</a:t>
            </a: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. That's the system."</a:t>
            </a:r>
            <a:endParaRPr lang="en-US" sz="1269" dirty="0"/>
          </a:p>
        </p:txBody>
      </p:sp>
      <p:sp>
        <p:nvSpPr>
          <p:cNvPr id="17" name="Shape 14"/>
          <p:cNvSpPr/>
          <p:nvPr/>
        </p:nvSpPr>
        <p:spPr>
          <a:xfrm>
            <a:off x="28575" y="4900613"/>
            <a:ext cx="9086850" cy="214313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171450" y="4942582"/>
            <a:ext cx="36433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MASTER</a:t>
            </a:r>
            <a:endParaRPr lang="en-US" sz="683" dirty="0"/>
          </a:p>
        </p:txBody>
      </p:sp>
      <p:sp>
        <p:nvSpPr>
          <p:cNvPr id="19" name="Text 16"/>
          <p:cNvSpPr/>
          <p:nvPr/>
        </p:nvSpPr>
        <p:spPr>
          <a:xfrm>
            <a:off x="678656" y="4942582"/>
            <a:ext cx="30360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UTF-8</a:t>
            </a:r>
            <a:endParaRPr lang="en-US" sz="683" dirty="0"/>
          </a:p>
        </p:txBody>
      </p:sp>
      <p:sp>
        <p:nvSpPr>
          <p:cNvPr id="20" name="Text 17"/>
          <p:cNvSpPr/>
          <p:nvPr/>
        </p:nvSpPr>
        <p:spPr>
          <a:xfrm>
            <a:off x="8365331" y="4942582"/>
            <a:ext cx="60721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PAGE 11/12</a:t>
            </a:r>
            <a:endParaRPr lang="en-US" sz="683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285750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707231" y="106263"/>
            <a:ext cx="188237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session_end.sh — zsh — 1280x720</a:t>
            </a:r>
            <a:endParaRPr lang="en-US" sz="727" dirty="0"/>
          </a:p>
        </p:txBody>
      </p:sp>
      <p:sp>
        <p:nvSpPr>
          <p:cNvPr id="5" name="Text 2"/>
          <p:cNvSpPr/>
          <p:nvPr/>
        </p:nvSpPr>
        <p:spPr>
          <a:xfrm>
            <a:off x="457200" y="1028700"/>
            <a:ext cx="8229600" cy="4500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Build Your Own Ecosystem</a:t>
            </a:r>
            <a:endParaRPr lang="en-US" sz="2436" dirty="0"/>
          </a:p>
        </p:txBody>
      </p:sp>
      <p:sp>
        <p:nvSpPr>
          <p:cNvPr id="6" name="Shape 3"/>
          <p:cNvSpPr/>
          <p:nvPr/>
        </p:nvSpPr>
        <p:spPr>
          <a:xfrm>
            <a:off x="2664619" y="1764506"/>
            <a:ext cx="3814763" cy="962620"/>
          </a:xfrm>
          <a:prstGeom prst="rect">
            <a:avLst/>
          </a:prstGeom>
          <a:solidFill>
            <a:srgbClr val="252526"/>
          </a:solidFill>
          <a:ln w="18288">
            <a:solidFill>
              <a:srgbClr val="569CD6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2964656" y="2050256"/>
            <a:ext cx="307181" cy="3375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924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$</a:t>
            </a:r>
            <a:endParaRPr lang="en-US" sz="1924" dirty="0"/>
          </a:p>
        </p:txBody>
      </p:sp>
      <p:sp>
        <p:nvSpPr>
          <p:cNvPr id="8" name="Text 5"/>
          <p:cNvSpPr/>
          <p:nvPr/>
        </p:nvSpPr>
        <p:spPr>
          <a:xfrm>
            <a:off x="3271838" y="2050256"/>
            <a:ext cx="460772" cy="3375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npx</a:t>
            </a:r>
            <a:endParaRPr lang="en-US" sz="1808" dirty="0"/>
          </a:p>
        </p:txBody>
      </p:sp>
      <p:sp>
        <p:nvSpPr>
          <p:cNvPr id="9" name="Text 6"/>
          <p:cNvSpPr/>
          <p:nvPr/>
        </p:nvSpPr>
        <p:spPr>
          <a:xfrm>
            <a:off x="3732609" y="2050256"/>
            <a:ext cx="2303859" cy="3375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924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vibesuite init</a:t>
            </a:r>
            <a:endParaRPr lang="en-US" sz="1924" dirty="0"/>
          </a:p>
        </p:txBody>
      </p:sp>
      <p:sp>
        <p:nvSpPr>
          <p:cNvPr id="10" name="Text 7"/>
          <p:cNvSpPr/>
          <p:nvPr/>
        </p:nvSpPr>
        <p:spPr>
          <a:xfrm>
            <a:off x="2964656" y="2530673"/>
            <a:ext cx="3214688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42" dirty="0">
                <a:solidFill>
                  <a:srgbClr val="00FF41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[FREE &amp; OPEN SOURCE]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457200" y="3412927"/>
            <a:ext cx="8229600" cy="822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269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UP NEXT: </a:t>
            </a:r>
            <a:r>
              <a:rPr lang="en-US" sz="1269" dirty="0">
                <a:solidFill>
                  <a:srgbClr val="D4D4D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"Agent.md Architecture"</a:t>
            </a:r>
            <a:r>
              <a:rPr lang="en-US" sz="1269" dirty="0">
                <a:solidFill>
                  <a:srgbClr val="88888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 The context that connects 50+ skills into one brain.
 </a:t>
            </a:r>
            <a:r>
              <a:rPr lang="en-US" sz="1193" b="1" dirty="0">
                <a:solidFill>
                  <a:srgbClr val="569CD6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SUBSCRIBE &amp; TURN ON NOTIFICATIONS</a:t>
            </a:r>
            <a:endParaRPr lang="en-US" sz="1269" dirty="0"/>
          </a:p>
        </p:txBody>
      </p:sp>
      <p:sp>
        <p:nvSpPr>
          <p:cNvPr id="12" name="Shape 9"/>
          <p:cNvSpPr/>
          <p:nvPr/>
        </p:nvSpPr>
        <p:spPr>
          <a:xfrm>
            <a:off x="28575" y="4900613"/>
            <a:ext cx="9086850" cy="214313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171450" y="4942582"/>
            <a:ext cx="971550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SESSION_COMPLETE</a:t>
            </a:r>
            <a:endParaRPr lang="en-US" sz="683" dirty="0"/>
          </a:p>
        </p:txBody>
      </p:sp>
      <p:sp>
        <p:nvSpPr>
          <p:cNvPr id="14" name="Text 11"/>
          <p:cNvSpPr/>
          <p:nvPr/>
        </p:nvSpPr>
        <p:spPr>
          <a:xfrm>
            <a:off x="1285875" y="4942582"/>
            <a:ext cx="30360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UTF-8</a:t>
            </a:r>
            <a:endParaRPr lang="en-US" sz="683" dirty="0"/>
          </a:p>
        </p:txBody>
      </p:sp>
      <p:sp>
        <p:nvSpPr>
          <p:cNvPr id="15" name="Text 12"/>
          <p:cNvSpPr/>
          <p:nvPr/>
        </p:nvSpPr>
        <p:spPr>
          <a:xfrm>
            <a:off x="8365331" y="4942582"/>
            <a:ext cx="60721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1E1E1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PAGE 12/12</a:t>
            </a:r>
            <a:endParaRPr lang="en-US" sz="683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2406</TotalTime>
  <Words>1088</Words>
  <Application>Microsoft Office PowerPoint</Application>
  <PresentationFormat>On-screen Show (16:9)</PresentationFormat>
  <Paragraphs>182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Fira Code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Ipinrere Oluleke-Oke</cp:lastModifiedBy>
  <cp:revision>4</cp:revision>
  <dcterms:created xsi:type="dcterms:W3CDTF">2026-03-02T02:54:55Z</dcterms:created>
  <dcterms:modified xsi:type="dcterms:W3CDTF">2026-03-03T19:04:12Z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2026-03-02T02:57:20Z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577bb43e-feaa-4aa1-8c16-02b96fd19f87</vt:lpwstr>
  </property>
  <property fmtid="{D5CDD505-2E9C-101B-9397-08002B2CF9AE}" pid="7" name="MSIP_Label_defa4170-0d19-0005-0004-bc88714345d2_ActionId">
    <vt:lpwstr>c1937855-8dbb-4282-b984-8f9fffc0718c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